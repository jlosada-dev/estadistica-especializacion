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32F93-C7D0-696D-B40B-7F8448A97421}" v="529" dt="2026-01-29T17:08:28.620"/>
    <p1510:client id="{1619FC0C-6080-290F-B93F-40EB1038B849}" v="258" dt="2026-01-29T22:20:11.971"/>
    <p1510:client id="{92097C4C-C5A4-9606-96BA-C18E2B037B66}" v="177" dt="2026-01-29T16:16:17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BA8A-E1D6-8CF5-4EB8-ABC9A4AAA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C35C38-A943-3D17-0E8A-AEA8D5894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3FEF9-3730-016D-9CDE-3B1B6E193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EEA2-2345-6EB2-BCE8-A1B818E8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D0EA5-9047-2BBC-B0D6-50A93267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2823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DDAD-4B9A-3ACC-563D-3C1631C36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1317E-A275-EB9C-BB7C-00FA79754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D0F10-D002-7E04-82A2-50D8E20A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82353-4F01-1FD0-B4A7-09B150A91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E4038-1BBC-367C-A8E8-D8CC65662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2014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770FD-4026-6E72-1D41-6EFB01B03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3CADB-F992-A9C2-D7BB-A1E61939D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9CFC6-2EAB-BADC-175E-06FDE668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8583F-18A4-2FBF-47EB-846F783B8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02BF-9DEF-F8E6-50C2-2BB84E18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3642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A9EC1-C52E-37AE-54FE-02C1046C8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A8148-5BB6-28C8-5D95-C62BAB732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A9FB9-DB1F-A4BD-DD43-9D4632829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95F19-236F-77B1-8F6A-1F49E2F9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90E32-036C-010C-53B3-8F808C24D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21C1AC-E0AD-FEC5-B73C-7E3096A6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7818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AA49-3836-B9B0-5A83-DBAD5547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D6270B-8F5D-B778-A0A8-DE255CCB5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B8625-B67B-1C49-DB51-283224357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BF7BE-8B07-F480-6FB1-C0377B861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046F55-A237-1A8D-9BD9-2267FB26A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D6DA49-6ACD-AC40-ADD7-3B1E0D271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965F3-8D95-9871-4485-EAE28050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C1580-32B4-42A0-51B6-1D68128E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9657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A983-83B7-3944-D04E-52A95EF0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EB081A-5123-25FF-9F69-5C4E95023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47B4B-5D28-166D-A374-84556A58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71D76-47B3-311A-EE8A-9259F4ED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60474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79E274-1368-F3DD-1507-43DB44125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3BD5B2-1814-55AD-CB11-F108A311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3FC48-3DB3-7045-07A2-27A31271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0783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DD91-9253-E181-7E12-C4A7AE32A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7BEBC-EF06-3BDA-0030-EC53CEFE0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058DF-73E2-3986-019C-050390D67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F7FEDC-715B-59D2-9039-78D10E88E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20371A-4502-3350-D34E-E61E7E86A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CCF89-3CFC-8E9D-37B0-246D1BB0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6931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701F4-9DCC-00EE-35F4-83E797CE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4A782E-F114-3F04-3674-2AD88FE121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801783-55EE-4F23-5519-1CF7F5C8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FE1FD-C55C-C36E-EB75-CF0C96AA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C4F85-E388-EE6A-1B35-7E6E94E75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7E053E-DDCD-9FDC-C558-F07F86DB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9627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50787-5B44-1E1E-C98E-17A43385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BE95D-8B60-9DC1-5701-BF5437A6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7189-1220-7EF5-7467-74E03D5ED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163B6-94DD-1E0D-6C9E-69E2399E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2C061-8EC4-0C82-35F6-FB9C4BA3B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5640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861572-E9BE-9B75-33EF-D4B71EA0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05A8AB-F7E6-408B-EFB2-A16DB332DE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94DF7-F334-D689-3F9A-C6C035603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5E46-8723-51E6-A678-AC81583B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A62E8-7C27-3FAE-A4BF-11960589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01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708DFF-3046-6ABB-BDE2-37A69F1A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D301-E944-EF85-1B1F-56F83B3E5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C0A0-D3C7-157B-2681-77207473F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6194F7-949B-4C16-A53F-8E9583A4A0C5}" type="datetimeFigureOut">
              <a:rPr lang="es-CO" smtClean="0"/>
              <a:t>20/06/2026</a:t>
            </a:fld>
            <a:endParaRPr lang="es-C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2C750-38DF-F531-0238-A869F7338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002E-F8BD-2A7C-5F20-DC97119BD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C98D8-E1F3-4453-A6AE-2F2C274BE7D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8759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UOqZXoV02zqSVqdLZerOmjqC3Rp8V_2c" TargetMode="External"/><Relationship Id="rId2" Type="http://schemas.openxmlformats.org/officeDocument/2006/relationships/hyperlink" Target="https://colab.research.google.com/drive/1HlRRms2j2d02tWd2L0vsKTWrAT1_IKiN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upTQY5WEQwxlfuwBWNMBclKQ0Z-3q0HU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1D7C4B3-0511-DDD1-1467-17D1C831C9BE}"/>
              </a:ext>
            </a:extLst>
          </p:cNvPr>
          <p:cNvSpPr>
            <a:spLocks noGrp="1"/>
          </p:cNvSpPr>
          <p:nvPr/>
        </p:nvSpPr>
        <p:spPr>
          <a:xfrm>
            <a:off x="1386865" y="818984"/>
            <a:ext cx="6596245" cy="32685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Aprendizaje Supervisado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36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4">
            <a:extLst>
              <a:ext uri="{FF2B5EF4-FFF2-40B4-BE49-F238E27FC236}">
                <a16:creationId xmlns:a16="http://schemas.microsoft.com/office/drawing/2014/main" id="{82B50A21-ECD3-D737-F9A4-3FEAEBC12D35}"/>
              </a:ext>
            </a:extLst>
          </p:cNvPr>
          <p:cNvSpPr txBox="1"/>
          <p:nvPr/>
        </p:nvSpPr>
        <p:spPr>
          <a:xfrm>
            <a:off x="229892" y="139485"/>
            <a:ext cx="92137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solidFill>
                  <a:srgbClr val="FFFFFF"/>
                </a:solidFill>
                <a:latin typeface="Aptos Display"/>
              </a:rPr>
              <a:t>Aprendizaje Supervisado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2AD151-43AB-0DEE-2F33-4299014E25D1}"/>
              </a:ext>
            </a:extLst>
          </p:cNvPr>
          <p:cNvSpPr txBox="1"/>
          <p:nvPr/>
        </p:nvSpPr>
        <p:spPr>
          <a:xfrm>
            <a:off x="4051138" y="1093154"/>
            <a:ext cx="51879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/>
              <a:t>Aprendizaje</a:t>
            </a:r>
            <a:r>
              <a:rPr lang="en-US" sz="2800" b="1" dirty="0"/>
              <a:t> </a:t>
            </a:r>
            <a:r>
              <a:rPr lang="en-US" sz="2800" b="1" dirty="0" err="1"/>
              <a:t>Supervisado</a:t>
            </a:r>
            <a:endParaRPr lang="en-US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FC700-DA75-AA25-D1A7-C3BB188D4E5A}"/>
              </a:ext>
            </a:extLst>
          </p:cNvPr>
          <p:cNvSpPr txBox="1"/>
          <p:nvPr/>
        </p:nvSpPr>
        <p:spPr>
          <a:xfrm>
            <a:off x="232833" y="2063750"/>
            <a:ext cx="801158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 err="1"/>
              <a:t>Aprendizaje</a:t>
            </a:r>
            <a:r>
              <a:rPr lang="en-US" b="1" dirty="0"/>
              <a:t> </a:t>
            </a:r>
            <a:r>
              <a:rPr lang="en-US" b="1" dirty="0" err="1"/>
              <a:t>supervisado</a:t>
            </a:r>
            <a:r>
              <a:rPr lang="en-US" dirty="0"/>
              <a:t> es un </a:t>
            </a:r>
            <a:r>
              <a:rPr lang="en-US" dirty="0" err="1"/>
              <a:t>enfoque</a:t>
            </a:r>
            <a:r>
              <a:rPr lang="en-US" dirty="0"/>
              <a:t> de </a:t>
            </a:r>
            <a:r>
              <a:rPr lang="en-US" i="1" dirty="0"/>
              <a:t>Machine Learning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que un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aprende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b="1" dirty="0" err="1"/>
              <a:t>datos</a:t>
            </a:r>
            <a:r>
              <a:rPr lang="en-US" b="1" dirty="0"/>
              <a:t> </a:t>
            </a:r>
            <a:r>
              <a:rPr lang="en-US" b="1" dirty="0" err="1"/>
              <a:t>previamente</a:t>
            </a:r>
            <a:r>
              <a:rPr lang="en-US" b="1" dirty="0"/>
              <a:t> </a:t>
            </a:r>
            <a:r>
              <a:rPr lang="en-US" b="1" dirty="0" err="1"/>
              <a:t>etiquetados</a:t>
            </a:r>
            <a:r>
              <a:rPr lang="en-US" dirty="0"/>
              <a:t>, es </a:t>
            </a:r>
            <a:r>
              <a:rPr lang="en-US" dirty="0" err="1"/>
              <a:t>decir</a:t>
            </a:r>
            <a:r>
              <a:rPr lang="en-US" dirty="0"/>
              <a:t>, </a:t>
            </a:r>
            <a:r>
              <a:rPr lang="en-US" dirty="0" err="1"/>
              <a:t>ejemplos</a:t>
            </a:r>
            <a:r>
              <a:rPr lang="en-US" dirty="0"/>
              <a:t> para los </a:t>
            </a:r>
            <a:r>
              <a:rPr lang="en-US" dirty="0" err="1"/>
              <a:t>cuales</a:t>
            </a:r>
            <a:r>
              <a:rPr lang="en-US" dirty="0"/>
              <a:t> se </a:t>
            </a:r>
            <a:r>
              <a:rPr lang="en-US" dirty="0" err="1"/>
              <a:t>conoce</a:t>
            </a:r>
            <a:r>
              <a:rPr lang="en-US" dirty="0"/>
              <a:t> la </a:t>
            </a:r>
            <a:r>
              <a:rPr lang="en-US" dirty="0" err="1"/>
              <a:t>respuesta</a:t>
            </a:r>
            <a:r>
              <a:rPr lang="en-US" dirty="0"/>
              <a:t> </a:t>
            </a:r>
            <a:r>
              <a:rPr lang="en-US" dirty="0" err="1"/>
              <a:t>correcta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Cada </a:t>
            </a:r>
            <a:r>
              <a:rPr lang="en-US" dirty="0" err="1"/>
              <a:t>ejemplo</a:t>
            </a:r>
            <a:r>
              <a:rPr lang="en-US" dirty="0"/>
              <a:t> de </a:t>
            </a:r>
            <a:r>
              <a:rPr lang="en-US" dirty="0" err="1"/>
              <a:t>entrenamiento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compuesto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:</a:t>
            </a:r>
          </a:p>
          <a:p>
            <a:endParaRPr lang="en-US" dirty="0"/>
          </a:p>
          <a:p>
            <a:pPr marL="228600" indent="-228600">
              <a:buFont typeface=""/>
              <a:buChar char="•"/>
            </a:pPr>
            <a:r>
              <a:rPr lang="en-US" b="1" dirty="0"/>
              <a:t>Variables de entrada (X)</a:t>
            </a:r>
            <a:r>
              <a:rPr lang="en-US" dirty="0"/>
              <a:t>: </a:t>
            </a:r>
            <a:r>
              <a:rPr lang="en-US" dirty="0" err="1"/>
              <a:t>características</a:t>
            </a:r>
            <a:r>
              <a:rPr lang="en-US" dirty="0"/>
              <a:t> o </a:t>
            </a:r>
            <a:r>
              <a:rPr lang="en-US" dirty="0" err="1"/>
              <a:t>atributos</a:t>
            </a:r>
            <a:r>
              <a:rPr lang="en-US" dirty="0"/>
              <a:t> observables.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Variable de </a:t>
            </a:r>
            <a:r>
              <a:rPr lang="en-US" b="1" dirty="0" err="1"/>
              <a:t>salida</a:t>
            </a:r>
            <a:r>
              <a:rPr lang="en-US" b="1" dirty="0"/>
              <a:t> (y)</a:t>
            </a:r>
            <a:r>
              <a:rPr lang="en-US" dirty="0"/>
              <a:t>: </a:t>
            </a:r>
            <a:r>
              <a:rPr lang="en-US" dirty="0" err="1"/>
              <a:t>etiqueta</a:t>
            </a:r>
            <a:r>
              <a:rPr lang="en-US" dirty="0"/>
              <a:t> o valor </a:t>
            </a:r>
            <a:r>
              <a:rPr lang="en-US" dirty="0" err="1"/>
              <a:t>objetivo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se </a:t>
            </a:r>
            <a:r>
              <a:rPr lang="en-US" dirty="0" err="1"/>
              <a:t>desea</a:t>
            </a:r>
            <a:r>
              <a:rPr lang="en-US" dirty="0"/>
              <a:t> </a:t>
            </a:r>
            <a:r>
              <a:rPr lang="en-US" dirty="0" err="1"/>
              <a:t>predecir</a:t>
            </a:r>
            <a:r>
              <a:rPr lang="en-US" dirty="0"/>
              <a:t>.</a:t>
            </a:r>
          </a:p>
          <a:p>
            <a:pPr marL="228600" indent="-228600">
              <a:buFont typeface=""/>
              <a:buChar char="•"/>
            </a:pPr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objetivo</a:t>
            </a:r>
            <a:r>
              <a:rPr lang="en-US" dirty="0"/>
              <a:t> del </a:t>
            </a:r>
            <a:r>
              <a:rPr lang="en-US" dirty="0" err="1"/>
              <a:t>aprendizaje</a:t>
            </a:r>
            <a:r>
              <a:rPr lang="en-US" dirty="0"/>
              <a:t> </a:t>
            </a:r>
            <a:r>
              <a:rPr lang="en-US" dirty="0" err="1"/>
              <a:t>supervisado</a:t>
            </a:r>
            <a:r>
              <a:rPr lang="en-US" dirty="0"/>
              <a:t> es </a:t>
            </a:r>
            <a:r>
              <a:rPr lang="en-US" b="1" dirty="0" err="1"/>
              <a:t>aprender</a:t>
            </a:r>
            <a:r>
              <a:rPr lang="en-US" b="1" dirty="0"/>
              <a:t>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función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relacione</a:t>
            </a:r>
            <a:r>
              <a:rPr lang="en-US" dirty="0"/>
              <a:t> las variables de entrada con la </a:t>
            </a:r>
            <a:r>
              <a:rPr lang="en-US" dirty="0" err="1"/>
              <a:t>salida</a:t>
            </a:r>
            <a:r>
              <a:rPr lang="en-US" dirty="0"/>
              <a:t>, de </a:t>
            </a:r>
            <a:r>
              <a:rPr lang="en-US" dirty="0" err="1"/>
              <a:t>manera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modelo</a:t>
            </a:r>
            <a:r>
              <a:rPr lang="en-US" dirty="0"/>
              <a:t> </a:t>
            </a:r>
            <a:r>
              <a:rPr lang="en-US" dirty="0" err="1"/>
              <a:t>pueda</a:t>
            </a:r>
            <a:r>
              <a:rPr lang="en-US" dirty="0"/>
              <a:t> </a:t>
            </a:r>
            <a:r>
              <a:rPr lang="en-US" b="1" dirty="0" err="1"/>
              <a:t>generalizar</a:t>
            </a:r>
            <a:r>
              <a:rPr lang="en-US" dirty="0"/>
              <a:t> y </a:t>
            </a:r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predicciones</a:t>
            </a:r>
            <a:r>
              <a:rPr lang="en-US" dirty="0"/>
              <a:t> </a:t>
            </a:r>
            <a:r>
              <a:rPr lang="en-US" dirty="0" err="1"/>
              <a:t>correctas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b="1" dirty="0" err="1"/>
              <a:t>datos</a:t>
            </a:r>
            <a:r>
              <a:rPr lang="en-US" b="1" dirty="0"/>
              <a:t> no </a:t>
            </a:r>
            <a:r>
              <a:rPr lang="en-US" b="1" dirty="0" err="1"/>
              <a:t>observados</a:t>
            </a:r>
            <a:r>
              <a:rPr lang="en-US" dirty="0"/>
              <a:t>.</a:t>
            </a:r>
          </a:p>
          <a:p>
            <a:pPr algn="ctr"/>
            <a:endParaRPr lang="en-US" dirty="0"/>
          </a:p>
        </p:txBody>
      </p:sp>
      <p:pic>
        <p:nvPicPr>
          <p:cNvPr id="5" name="Picture 4" descr="A drawing of a diagram&#10;&#10;AI-generated content may be incorrect.">
            <a:extLst>
              <a:ext uri="{FF2B5EF4-FFF2-40B4-BE49-F238E27FC236}">
                <a16:creationId xmlns:a16="http://schemas.microsoft.com/office/drawing/2014/main" id="{CCEC2C0C-C71C-62A0-EC02-085168172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6533" y="1618191"/>
            <a:ext cx="3393017" cy="41190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22EE0-8972-69D3-987A-E25E56BD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4">
            <a:extLst>
              <a:ext uri="{FF2B5EF4-FFF2-40B4-BE49-F238E27FC236}">
                <a16:creationId xmlns:a16="http://schemas.microsoft.com/office/drawing/2014/main" id="{61FE2040-70B9-6C61-178D-30775849657D}"/>
              </a:ext>
            </a:extLst>
          </p:cNvPr>
          <p:cNvSpPr txBox="1"/>
          <p:nvPr/>
        </p:nvSpPr>
        <p:spPr>
          <a:xfrm>
            <a:off x="229892" y="139485"/>
            <a:ext cx="92137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solidFill>
                  <a:srgbClr val="FFFFFF"/>
                </a:solidFill>
                <a:latin typeface="Aptos Display"/>
              </a:rPr>
              <a:t>Aprendizaje Supervisado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5308E1-2A74-A896-24F4-092FEA8202B2}"/>
              </a:ext>
            </a:extLst>
          </p:cNvPr>
          <p:cNvSpPr txBox="1"/>
          <p:nvPr/>
        </p:nvSpPr>
        <p:spPr>
          <a:xfrm>
            <a:off x="1923889" y="1061404"/>
            <a:ext cx="88074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/>
              <a:t>Tipos</a:t>
            </a:r>
            <a:r>
              <a:rPr lang="en-US" sz="2800" b="1" dirty="0"/>
              <a:t> de Problemas </a:t>
            </a:r>
            <a:r>
              <a:rPr lang="en-US" sz="2800" b="1" dirty="0" err="1"/>
              <a:t>en</a:t>
            </a:r>
            <a:r>
              <a:rPr lang="en-US" sz="2800" b="1" dirty="0"/>
              <a:t> </a:t>
            </a:r>
            <a:r>
              <a:rPr lang="en-US" sz="2800" b="1" dirty="0" err="1"/>
              <a:t>el</a:t>
            </a:r>
            <a:r>
              <a:rPr lang="en-US" sz="2800" b="1" dirty="0"/>
              <a:t> </a:t>
            </a:r>
            <a:r>
              <a:rPr lang="en-US" sz="2800" b="1" dirty="0" err="1"/>
              <a:t>Aprendizaje</a:t>
            </a:r>
            <a:r>
              <a:rPr lang="en-US" sz="2800" b="1" dirty="0"/>
              <a:t> </a:t>
            </a:r>
            <a:r>
              <a:rPr lang="en-US" sz="2800" b="1" dirty="0" err="1"/>
              <a:t>Supervisado</a:t>
            </a:r>
            <a:endParaRPr lang="en-U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FD5B2-62DE-11F3-2A37-B86B61955D11}"/>
              </a:ext>
            </a:extLst>
          </p:cNvPr>
          <p:cNvSpPr txBox="1"/>
          <p:nvPr/>
        </p:nvSpPr>
        <p:spPr>
          <a:xfrm>
            <a:off x="1066638" y="2955820"/>
            <a:ext cx="5262033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en-US" sz="2800" b="1"/>
              <a:t>Problemas de </a:t>
            </a:r>
            <a:r>
              <a:rPr lang="en-US" sz="2800" b="1" err="1"/>
              <a:t>Regresión</a:t>
            </a:r>
            <a:endParaRPr lang="en-US" err="1"/>
          </a:p>
          <a:p>
            <a:pPr marL="514350" indent="-514350">
              <a:buAutoNum type="arabicPeriod"/>
            </a:pPr>
            <a:r>
              <a:rPr lang="en-US" sz="2800" b="1"/>
              <a:t>Problemas de </a:t>
            </a:r>
            <a:r>
              <a:rPr lang="en-US" sz="2800" b="1" err="1"/>
              <a:t>Clasificación</a:t>
            </a:r>
            <a:endParaRPr lang="en-US" sz="2800" b="1" dirty="0" err="1"/>
          </a:p>
        </p:txBody>
      </p:sp>
      <p:pic>
        <p:nvPicPr>
          <p:cNvPr id="7" name="Picture 6" descr="https://blogdatlas.wordpress.com/wp-content/uploads/2020/06/datlas_regression-vs-classification-in-machine-learning.png?w=640">
            <a:extLst>
              <a:ext uri="{FF2B5EF4-FFF2-40B4-BE49-F238E27FC236}">
                <a16:creationId xmlns:a16="http://schemas.microsoft.com/office/drawing/2014/main" id="{71F37078-B1F8-A549-916A-3ED2C57B3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483" y="2178459"/>
            <a:ext cx="5526615" cy="307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1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63691-9528-0D04-76F9-8D2D54682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4">
            <a:extLst>
              <a:ext uri="{FF2B5EF4-FFF2-40B4-BE49-F238E27FC236}">
                <a16:creationId xmlns:a16="http://schemas.microsoft.com/office/drawing/2014/main" id="{358337A7-5F3E-AB3A-AD3C-AC5D70384CE8}"/>
              </a:ext>
            </a:extLst>
          </p:cNvPr>
          <p:cNvSpPr txBox="1"/>
          <p:nvPr/>
        </p:nvSpPr>
        <p:spPr>
          <a:xfrm>
            <a:off x="229892" y="139485"/>
            <a:ext cx="92137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solidFill>
                  <a:srgbClr val="FFFFFF"/>
                </a:solidFill>
                <a:latin typeface="Aptos Display"/>
              </a:rPr>
              <a:t>Aprendizaje Supervisado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6EE93B-CEDE-DCCA-6FFB-C7AFF21FB65D}"/>
              </a:ext>
            </a:extLst>
          </p:cNvPr>
          <p:cNvSpPr txBox="1"/>
          <p:nvPr/>
        </p:nvSpPr>
        <p:spPr>
          <a:xfrm>
            <a:off x="1923889" y="1061404"/>
            <a:ext cx="88074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/>
              <a:t>Tipos</a:t>
            </a:r>
            <a:r>
              <a:rPr lang="en-US" sz="2800" b="1" dirty="0"/>
              <a:t> de Problemas </a:t>
            </a:r>
            <a:r>
              <a:rPr lang="en-US" sz="2800" b="1" dirty="0" err="1"/>
              <a:t>en</a:t>
            </a:r>
            <a:r>
              <a:rPr lang="en-US" sz="2800" b="1" dirty="0"/>
              <a:t> </a:t>
            </a:r>
            <a:r>
              <a:rPr lang="en-US" sz="2800" b="1" dirty="0" err="1"/>
              <a:t>el</a:t>
            </a:r>
            <a:r>
              <a:rPr lang="en-US" sz="2800" b="1" dirty="0"/>
              <a:t> </a:t>
            </a:r>
            <a:r>
              <a:rPr lang="en-US" sz="2800" b="1" dirty="0" err="1"/>
              <a:t>Aprendizaje</a:t>
            </a:r>
            <a:r>
              <a:rPr lang="en-US" sz="2800" b="1" dirty="0"/>
              <a:t> </a:t>
            </a:r>
            <a:r>
              <a:rPr lang="en-US" sz="2800" b="1" dirty="0" err="1"/>
              <a:t>Supervisado</a:t>
            </a:r>
            <a:endParaRPr lang="en-U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EE1C83-979C-E587-29C8-A50EBDD9A23E}"/>
              </a:ext>
            </a:extLst>
          </p:cNvPr>
          <p:cNvSpPr txBox="1"/>
          <p:nvPr/>
        </p:nvSpPr>
        <p:spPr>
          <a:xfrm>
            <a:off x="505721" y="1590570"/>
            <a:ext cx="10225616" cy="458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14350" indent="-514350">
              <a:buAutoNum type="arabicPeriod"/>
            </a:pPr>
            <a:r>
              <a:rPr lang="en-US" sz="2400" b="1" dirty="0"/>
              <a:t>Problemas de </a:t>
            </a:r>
            <a:r>
              <a:rPr lang="en-US" sz="2400" b="1" err="1"/>
              <a:t>Regresión</a:t>
            </a:r>
            <a:r>
              <a:rPr lang="en-US" sz="2400" b="1" dirty="0"/>
              <a:t>: </a:t>
            </a:r>
            <a:endParaRPr lang="en-US" sz="2400" dirty="0">
              <a:ea typeface="+mn-lt"/>
              <a:cs typeface="+mn-lt"/>
            </a:endParaRPr>
          </a:p>
          <a:p>
            <a:r>
              <a:rPr lang="en-US" sz="2400" dirty="0">
                <a:ea typeface="+mn-lt"/>
                <a:cs typeface="+mn-lt"/>
              </a:rPr>
              <a:t>La </a:t>
            </a:r>
            <a:r>
              <a:rPr lang="en-US" sz="2400" b="1" dirty="0">
                <a:ea typeface="+mn-lt"/>
                <a:cs typeface="+mn-lt"/>
              </a:rPr>
              <a:t>variable de </a:t>
            </a:r>
            <a:r>
              <a:rPr lang="en-US" sz="2400" b="1" err="1">
                <a:ea typeface="+mn-lt"/>
                <a:cs typeface="+mn-lt"/>
              </a:rPr>
              <a:t>salida</a:t>
            </a:r>
            <a:r>
              <a:rPr lang="en-US" sz="2400" b="1" dirty="0">
                <a:ea typeface="+mn-lt"/>
                <a:cs typeface="+mn-lt"/>
              </a:rPr>
              <a:t> es </a:t>
            </a:r>
            <a:r>
              <a:rPr lang="en-US" sz="2400" b="1" err="1">
                <a:ea typeface="+mn-lt"/>
                <a:cs typeface="+mn-lt"/>
              </a:rPr>
              <a:t>numérica</a:t>
            </a:r>
            <a:r>
              <a:rPr lang="en-US" sz="2400" b="1" dirty="0">
                <a:ea typeface="+mn-lt"/>
                <a:cs typeface="+mn-lt"/>
              </a:rPr>
              <a:t> y continua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r>
              <a:rPr lang="en-US" sz="2400" dirty="0">
                <a:ea typeface="+mn-lt"/>
                <a:cs typeface="+mn-lt"/>
              </a:rPr>
              <a:t>El </a:t>
            </a:r>
            <a:r>
              <a:rPr lang="en-US" sz="2400" err="1">
                <a:ea typeface="+mn-lt"/>
                <a:cs typeface="+mn-lt"/>
              </a:rPr>
              <a:t>modelo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aprende</a:t>
            </a:r>
            <a:r>
              <a:rPr lang="en-US" sz="2400" dirty="0">
                <a:ea typeface="+mn-lt"/>
                <a:cs typeface="+mn-lt"/>
              </a:rPr>
              <a:t> a </a:t>
            </a:r>
            <a:r>
              <a:rPr lang="en-US" sz="2400" err="1">
                <a:ea typeface="+mn-lt"/>
                <a:cs typeface="+mn-lt"/>
              </a:rPr>
              <a:t>predecir</a:t>
            </a:r>
            <a:r>
              <a:rPr lang="en-US" sz="2400" dirty="0">
                <a:ea typeface="+mn-lt"/>
                <a:cs typeface="+mn-lt"/>
              </a:rPr>
              <a:t> un valor real.</a:t>
            </a:r>
            <a:endParaRPr lang="en-US" sz="2400"/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err="1">
                <a:ea typeface="+mn-lt"/>
                <a:cs typeface="+mn-lt"/>
              </a:rPr>
              <a:t>Ejemplos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sz="2400"/>
          </a:p>
          <a:p>
            <a:pPr lvl="1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Predicción</a:t>
            </a:r>
            <a:r>
              <a:rPr lang="en-US" sz="2400" dirty="0">
                <a:ea typeface="+mn-lt"/>
                <a:cs typeface="+mn-lt"/>
              </a:rPr>
              <a:t> del </a:t>
            </a:r>
            <a:r>
              <a:rPr lang="en-US" sz="2400" err="1">
                <a:ea typeface="+mn-lt"/>
                <a:cs typeface="+mn-lt"/>
              </a:rPr>
              <a:t>precio</a:t>
            </a:r>
            <a:r>
              <a:rPr lang="en-US" sz="2400" dirty="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una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vivienda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/>
          </a:p>
          <a:p>
            <a:pPr lvl="1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Estimación</a:t>
            </a:r>
            <a:r>
              <a:rPr lang="en-US" sz="2400" dirty="0">
                <a:ea typeface="+mn-lt"/>
                <a:cs typeface="+mn-lt"/>
              </a:rPr>
              <a:t> de la </a:t>
            </a:r>
            <a:r>
              <a:rPr lang="en-US" sz="2400" err="1">
                <a:ea typeface="+mn-lt"/>
                <a:cs typeface="+mn-lt"/>
              </a:rPr>
              <a:t>temperatura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sz="2400"/>
          </a:p>
          <a:p>
            <a:pPr lvl="1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Predicción</a:t>
            </a:r>
            <a:r>
              <a:rPr lang="en-US" sz="2400" dirty="0">
                <a:ea typeface="+mn-lt"/>
                <a:cs typeface="+mn-lt"/>
              </a:rPr>
              <a:t> de </a:t>
            </a:r>
            <a:r>
              <a:rPr lang="en-US" sz="2400" err="1">
                <a:ea typeface="+mn-lt"/>
                <a:cs typeface="+mn-lt"/>
              </a:rPr>
              <a:t>ventas</a:t>
            </a:r>
            <a:r>
              <a:rPr lang="en-US" sz="2400" dirty="0">
                <a:ea typeface="+mn-lt"/>
                <a:cs typeface="+mn-lt"/>
              </a:rPr>
              <a:t> o </a:t>
            </a:r>
            <a:r>
              <a:rPr lang="en-US" sz="2400" err="1">
                <a:ea typeface="+mn-lt"/>
                <a:cs typeface="+mn-lt"/>
              </a:rPr>
              <a:t>demanda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 lvl="1">
              <a:buFont typeface="Arial"/>
              <a:buChar char="•"/>
            </a:pPr>
            <a:endParaRPr lang="en-US" sz="2400" b="1" dirty="0">
              <a:ea typeface="+mn-lt"/>
              <a:cs typeface="+mn-lt"/>
            </a:endParaRPr>
          </a:p>
          <a:p>
            <a:pPr lvl="1"/>
            <a:r>
              <a:rPr lang="en-US" sz="2400" b="1" dirty="0">
                <a:ea typeface="+mn-lt"/>
                <a:cs typeface="+mn-lt"/>
              </a:rPr>
              <a:t>Idea clave:</a:t>
            </a:r>
            <a:endParaRPr lang="en-US" sz="2400"/>
          </a:p>
          <a:p>
            <a:pPr lvl="1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La </a:t>
            </a:r>
            <a:r>
              <a:rPr lang="en-US" sz="2400" err="1">
                <a:ea typeface="+mn-lt"/>
                <a:cs typeface="+mn-lt"/>
              </a:rPr>
              <a:t>regresión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responde</a:t>
            </a:r>
            <a:r>
              <a:rPr lang="en-US" sz="2400" dirty="0">
                <a:ea typeface="+mn-lt"/>
                <a:cs typeface="+mn-lt"/>
              </a:rPr>
              <a:t> a la </a:t>
            </a:r>
            <a:r>
              <a:rPr lang="en-US" sz="2400" err="1">
                <a:ea typeface="+mn-lt"/>
                <a:cs typeface="+mn-lt"/>
              </a:rPr>
              <a:t>pregunta</a:t>
            </a:r>
            <a:r>
              <a:rPr lang="en-US" sz="2400" dirty="0">
                <a:ea typeface="+mn-lt"/>
                <a:cs typeface="+mn-lt"/>
              </a:rPr>
              <a:t>: </a:t>
            </a:r>
            <a:r>
              <a:rPr lang="en-US" sz="2400" i="1" dirty="0">
                <a:ea typeface="+mn-lt"/>
                <a:cs typeface="+mn-lt"/>
              </a:rPr>
              <a:t>¿</a:t>
            </a:r>
            <a:r>
              <a:rPr lang="en-US" sz="2400" i="1" err="1">
                <a:ea typeface="+mn-lt"/>
                <a:cs typeface="+mn-lt"/>
              </a:rPr>
              <a:t>cuánto</a:t>
            </a:r>
            <a:r>
              <a:rPr lang="en-US" sz="2400" i="1" dirty="0">
                <a:ea typeface="+mn-lt"/>
                <a:cs typeface="+mn-lt"/>
              </a:rPr>
              <a:t> vale?</a:t>
            </a:r>
            <a:endParaRPr lang="en-US" sz="2400" dirty="0"/>
          </a:p>
          <a:p>
            <a:pPr marL="514350" indent="-514350">
              <a:buAutoNum type="arabicPeriod"/>
            </a:pPr>
            <a:endParaRPr lang="en-US" sz="2800" b="1" dirty="0"/>
          </a:p>
        </p:txBody>
      </p:sp>
      <p:pic>
        <p:nvPicPr>
          <p:cNvPr id="4" name="Picture 3" descr="A graph with red dots&#10;&#10;AI-generated content may be incorrect.">
            <a:extLst>
              <a:ext uri="{FF2B5EF4-FFF2-40B4-BE49-F238E27FC236}">
                <a16:creationId xmlns:a16="http://schemas.microsoft.com/office/drawing/2014/main" id="{EF58D1A4-CA65-8474-FB93-B989ADC59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692" y="1838325"/>
            <a:ext cx="3674533" cy="385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4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43D04-5E6D-A019-7A38-1A43C62D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4">
            <a:extLst>
              <a:ext uri="{FF2B5EF4-FFF2-40B4-BE49-F238E27FC236}">
                <a16:creationId xmlns:a16="http://schemas.microsoft.com/office/drawing/2014/main" id="{0F165DE7-8E8F-DD49-527B-04B79DDE4802}"/>
              </a:ext>
            </a:extLst>
          </p:cNvPr>
          <p:cNvSpPr txBox="1"/>
          <p:nvPr/>
        </p:nvSpPr>
        <p:spPr>
          <a:xfrm>
            <a:off x="229892" y="139485"/>
            <a:ext cx="92137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solidFill>
                  <a:srgbClr val="FFFFFF"/>
                </a:solidFill>
                <a:latin typeface="Aptos Display"/>
              </a:rPr>
              <a:t>Aprendizaje Supervisado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DAD46B-8E10-0E28-6C64-5075F0E266A4}"/>
              </a:ext>
            </a:extLst>
          </p:cNvPr>
          <p:cNvSpPr txBox="1"/>
          <p:nvPr/>
        </p:nvSpPr>
        <p:spPr>
          <a:xfrm>
            <a:off x="1923889" y="1061404"/>
            <a:ext cx="88074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/>
              <a:t>Tipos</a:t>
            </a:r>
            <a:r>
              <a:rPr lang="en-US" sz="2800" b="1" dirty="0"/>
              <a:t> de Problemas </a:t>
            </a:r>
            <a:r>
              <a:rPr lang="en-US" sz="2800" b="1" dirty="0" err="1"/>
              <a:t>en</a:t>
            </a:r>
            <a:r>
              <a:rPr lang="en-US" sz="2800" b="1" dirty="0"/>
              <a:t> </a:t>
            </a:r>
            <a:r>
              <a:rPr lang="en-US" sz="2800" b="1" dirty="0" err="1"/>
              <a:t>el</a:t>
            </a:r>
            <a:r>
              <a:rPr lang="en-US" sz="2800" b="1" dirty="0"/>
              <a:t> </a:t>
            </a:r>
            <a:r>
              <a:rPr lang="en-US" sz="2800" b="1" dirty="0" err="1"/>
              <a:t>Aprendizaje</a:t>
            </a:r>
            <a:r>
              <a:rPr lang="en-US" sz="2800" b="1" dirty="0"/>
              <a:t> </a:t>
            </a:r>
            <a:r>
              <a:rPr lang="en-US" sz="2800" b="1" dirty="0" err="1"/>
              <a:t>Supervisado</a:t>
            </a:r>
            <a:endParaRPr lang="en-US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FCCF07-606F-CC4E-D0E3-B49A691AFC96}"/>
              </a:ext>
            </a:extLst>
          </p:cNvPr>
          <p:cNvSpPr txBox="1"/>
          <p:nvPr/>
        </p:nvSpPr>
        <p:spPr>
          <a:xfrm>
            <a:off x="505721" y="1590570"/>
            <a:ext cx="10225616" cy="52937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2. Problemas de </a:t>
            </a:r>
            <a:r>
              <a:rPr lang="en-US" sz="2800" b="1" dirty="0" err="1"/>
              <a:t>Clasificación</a:t>
            </a:r>
            <a:endParaRPr lang="en-US" sz="2800" dirty="0" err="1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b="1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La </a:t>
            </a:r>
            <a:r>
              <a:rPr lang="en-US" sz="2400" b="1" dirty="0">
                <a:ea typeface="+mn-lt"/>
                <a:cs typeface="+mn-lt"/>
              </a:rPr>
              <a:t>variable de </a:t>
            </a:r>
            <a:r>
              <a:rPr lang="en-US" sz="2400" b="1" dirty="0" err="1">
                <a:ea typeface="+mn-lt"/>
                <a:cs typeface="+mn-lt"/>
              </a:rPr>
              <a:t>salida</a:t>
            </a:r>
            <a:r>
              <a:rPr lang="en-US" sz="2400" b="1" dirty="0">
                <a:ea typeface="+mn-lt"/>
                <a:cs typeface="+mn-lt"/>
              </a:rPr>
              <a:t> es </a:t>
            </a:r>
            <a:r>
              <a:rPr lang="en-US" sz="2400" b="1" dirty="0" err="1">
                <a:ea typeface="+mn-lt"/>
                <a:cs typeface="+mn-lt"/>
              </a:rPr>
              <a:t>categórica</a:t>
            </a:r>
            <a:r>
              <a:rPr lang="en-US" sz="2400" dirty="0">
                <a:ea typeface="+mn-lt"/>
                <a:cs typeface="+mn-lt"/>
              </a:rPr>
              <a:t> (dos o </a:t>
            </a:r>
            <a:r>
              <a:rPr lang="en-US" sz="2400" dirty="0" err="1">
                <a:ea typeface="+mn-lt"/>
                <a:cs typeface="+mn-lt"/>
              </a:rPr>
              <a:t>más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clases</a:t>
            </a:r>
            <a:r>
              <a:rPr lang="en-US" sz="2400" dirty="0">
                <a:ea typeface="+mn-lt"/>
                <a:cs typeface="+mn-lt"/>
              </a:rPr>
              <a:t>).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El </a:t>
            </a:r>
            <a:r>
              <a:rPr lang="en-US" sz="2400" dirty="0" err="1">
                <a:ea typeface="+mn-lt"/>
                <a:cs typeface="+mn-lt"/>
              </a:rPr>
              <a:t>modelo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asigna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una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etiqueta</a:t>
            </a:r>
            <a:r>
              <a:rPr lang="en-US" sz="2400" dirty="0">
                <a:ea typeface="+mn-lt"/>
                <a:cs typeface="+mn-lt"/>
              </a:rPr>
              <a:t> a </a:t>
            </a:r>
            <a:r>
              <a:rPr lang="en-US" sz="2400" dirty="0" err="1">
                <a:ea typeface="+mn-lt"/>
                <a:cs typeface="+mn-lt"/>
              </a:rPr>
              <a:t>cada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observación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endParaRPr lang="en-US" sz="2400" dirty="0">
              <a:ea typeface="+mn-lt"/>
              <a:cs typeface="+mn-lt"/>
            </a:endParaRPr>
          </a:p>
          <a:p>
            <a:r>
              <a:rPr lang="en-US" sz="2400" dirty="0" err="1">
                <a:ea typeface="+mn-lt"/>
                <a:cs typeface="+mn-lt"/>
              </a:rPr>
              <a:t>Ejemplos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Spam / No spam.</a:t>
            </a:r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2400" dirty="0" err="1">
                <a:ea typeface="+mn-lt"/>
                <a:cs typeface="+mn-lt"/>
              </a:rPr>
              <a:t>Aprobado</a:t>
            </a:r>
            <a:r>
              <a:rPr lang="en-US" sz="2400" dirty="0">
                <a:ea typeface="+mn-lt"/>
                <a:cs typeface="+mn-lt"/>
              </a:rPr>
              <a:t> / </a:t>
            </a:r>
            <a:r>
              <a:rPr lang="en-US" sz="2400" dirty="0" err="1">
                <a:ea typeface="+mn-lt"/>
                <a:cs typeface="+mn-lt"/>
              </a:rPr>
              <a:t>Reprobado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2400" err="1">
                <a:ea typeface="+mn-lt"/>
                <a:cs typeface="+mn-lt"/>
              </a:rPr>
              <a:t>Diagnóstico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err="1">
                <a:ea typeface="+mn-lt"/>
                <a:cs typeface="+mn-lt"/>
              </a:rPr>
              <a:t>positivo</a:t>
            </a:r>
            <a:r>
              <a:rPr lang="en-US" sz="2400" dirty="0">
                <a:ea typeface="+mn-lt"/>
                <a:cs typeface="+mn-lt"/>
              </a:rPr>
              <a:t> / </a:t>
            </a:r>
            <a:r>
              <a:rPr lang="en-US" sz="2400" err="1">
                <a:ea typeface="+mn-lt"/>
                <a:cs typeface="+mn-lt"/>
              </a:rPr>
              <a:t>negativo</a:t>
            </a:r>
            <a:r>
              <a:rPr lang="en-US" sz="240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endParaRPr lang="en-US" sz="2400" b="1" dirty="0">
              <a:ea typeface="+mn-lt"/>
              <a:cs typeface="+mn-lt"/>
            </a:endParaRPr>
          </a:p>
          <a:p>
            <a:pPr lvl="1"/>
            <a:r>
              <a:rPr lang="en-US" sz="2400" b="1" dirty="0">
                <a:ea typeface="+mn-lt"/>
                <a:cs typeface="+mn-lt"/>
              </a:rPr>
              <a:t>Idea clave:</a:t>
            </a:r>
            <a:endParaRPr lang="en-US" dirty="0">
              <a:ea typeface="+mn-lt"/>
              <a:cs typeface="+mn-lt"/>
            </a:endParaRPr>
          </a:p>
          <a:p>
            <a:pPr lvl="1">
              <a:buFont typeface="Arial"/>
              <a:buChar char="•"/>
            </a:pPr>
            <a:r>
              <a:rPr lang="en-US" sz="2400" dirty="0">
                <a:ea typeface="+mn-lt"/>
                <a:cs typeface="+mn-lt"/>
              </a:rPr>
              <a:t>La </a:t>
            </a:r>
            <a:r>
              <a:rPr lang="en-US" sz="2400" dirty="0" err="1">
                <a:ea typeface="+mn-lt"/>
                <a:cs typeface="+mn-lt"/>
              </a:rPr>
              <a:t>clasificación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responde</a:t>
            </a:r>
            <a:r>
              <a:rPr lang="en-US" sz="2400" dirty="0">
                <a:ea typeface="+mn-lt"/>
                <a:cs typeface="+mn-lt"/>
              </a:rPr>
              <a:t> a la </a:t>
            </a:r>
            <a:r>
              <a:rPr lang="en-US" sz="2400" dirty="0" err="1">
                <a:ea typeface="+mn-lt"/>
                <a:cs typeface="+mn-lt"/>
              </a:rPr>
              <a:t>pregunta</a:t>
            </a:r>
            <a:r>
              <a:rPr lang="en-US" sz="2400" dirty="0">
                <a:ea typeface="+mn-lt"/>
                <a:cs typeface="+mn-lt"/>
              </a:rPr>
              <a:t>: </a:t>
            </a:r>
            <a:r>
              <a:rPr lang="en-US" sz="2400" i="1" dirty="0">
                <a:ea typeface="+mn-lt"/>
                <a:cs typeface="+mn-lt"/>
              </a:rPr>
              <a:t>¿a </a:t>
            </a:r>
            <a:r>
              <a:rPr lang="en-US" sz="2400" i="1" dirty="0" err="1">
                <a:ea typeface="+mn-lt"/>
                <a:cs typeface="+mn-lt"/>
              </a:rPr>
              <a:t>qué</a:t>
            </a:r>
            <a:r>
              <a:rPr lang="en-US" sz="2400" i="1" dirty="0">
                <a:ea typeface="+mn-lt"/>
                <a:cs typeface="+mn-lt"/>
              </a:rPr>
              <a:t> </a:t>
            </a:r>
            <a:r>
              <a:rPr lang="en-US" sz="2400" i="1" dirty="0" err="1">
                <a:ea typeface="+mn-lt"/>
                <a:cs typeface="+mn-lt"/>
              </a:rPr>
              <a:t>clase</a:t>
            </a:r>
            <a:r>
              <a:rPr lang="en-US" sz="2400" i="1" dirty="0">
                <a:ea typeface="+mn-lt"/>
                <a:cs typeface="+mn-lt"/>
              </a:rPr>
              <a:t> </a:t>
            </a:r>
            <a:r>
              <a:rPr lang="en-US" sz="2400" i="1" dirty="0" err="1">
                <a:ea typeface="+mn-lt"/>
                <a:cs typeface="+mn-lt"/>
              </a:rPr>
              <a:t>pertenece</a:t>
            </a:r>
            <a:r>
              <a:rPr lang="en-US" sz="2400" i="1" dirty="0">
                <a:ea typeface="+mn-lt"/>
                <a:cs typeface="+mn-lt"/>
              </a:rPr>
              <a:t>?</a:t>
            </a:r>
            <a:endParaRPr lang="en-US" dirty="0">
              <a:ea typeface="+mn-lt"/>
              <a:cs typeface="+mn-lt"/>
            </a:endParaRPr>
          </a:p>
          <a:p>
            <a:pPr marL="514350" indent="-514350">
              <a:buFontTx/>
              <a:buAutoNum type="arabicPeriod"/>
            </a:pPr>
            <a:endParaRPr lang="en-US" sz="2400" b="1" dirty="0"/>
          </a:p>
          <a:p>
            <a:pPr marL="514350" indent="-514350">
              <a:buAutoNum type="arabicPeriod"/>
            </a:pPr>
            <a:endParaRPr lang="en-US" sz="2800" b="1" dirty="0"/>
          </a:p>
        </p:txBody>
      </p:sp>
      <p:pic>
        <p:nvPicPr>
          <p:cNvPr id="5" name="Picture 4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9CCCF33B-81A6-CEB5-9C33-E3A4EAC1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9329" y="1895475"/>
            <a:ext cx="2924175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659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2216B-5D4F-B839-E93A-39010B19A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4">
            <a:extLst>
              <a:ext uri="{FF2B5EF4-FFF2-40B4-BE49-F238E27FC236}">
                <a16:creationId xmlns:a16="http://schemas.microsoft.com/office/drawing/2014/main" id="{FE13ED50-1C52-1981-B036-D0C570C27572}"/>
              </a:ext>
            </a:extLst>
          </p:cNvPr>
          <p:cNvSpPr txBox="1"/>
          <p:nvPr/>
        </p:nvSpPr>
        <p:spPr>
          <a:xfrm>
            <a:off x="229892" y="139485"/>
            <a:ext cx="92137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solidFill>
                  <a:srgbClr val="FFFFFF"/>
                </a:solidFill>
                <a:latin typeface="Aptos Display"/>
              </a:rPr>
              <a:t>Aprendizaje Supervisado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E9DF97-B673-6126-3257-F56054424F43}"/>
              </a:ext>
            </a:extLst>
          </p:cNvPr>
          <p:cNvSpPr txBox="1"/>
          <p:nvPr/>
        </p:nvSpPr>
        <p:spPr>
          <a:xfrm>
            <a:off x="4453306" y="934404"/>
            <a:ext cx="32829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Vamos al </a:t>
            </a:r>
            <a:r>
              <a:rPr lang="en-US" sz="2800" b="1" dirty="0" err="1"/>
              <a:t>código</a:t>
            </a:r>
            <a:endParaRPr lang="en-US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11ADC1-44CE-2C43-8D2A-6663D3BFB001}"/>
              </a:ext>
            </a:extLst>
          </p:cNvPr>
          <p:cNvSpPr txBox="1"/>
          <p:nvPr/>
        </p:nvSpPr>
        <p:spPr>
          <a:xfrm>
            <a:off x="421685" y="2800460"/>
            <a:ext cx="11345332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Make </a:t>
            </a:r>
            <a:r>
              <a:rPr lang="en-US" b="1" err="1"/>
              <a:t>Regressión</a:t>
            </a:r>
            <a:r>
              <a:rPr lang="en-US" b="1" dirty="0"/>
              <a:t> con Datos </a:t>
            </a:r>
            <a:r>
              <a:rPr lang="en-US" b="1" err="1"/>
              <a:t>Sintéticos</a:t>
            </a:r>
            <a:endParaRPr lang="en-US" b="1"/>
          </a:p>
          <a:p>
            <a:endParaRPr lang="en-US" dirty="0"/>
          </a:p>
          <a:p>
            <a:r>
              <a:rPr lang="en-US" dirty="0">
                <a:hlinkClick r:id="rId2"/>
              </a:rPr>
              <a:t>https://colab.research.google.com/drive/1HlRRms2j2d02tWd2L0vsKTWrAT1_IKiN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Diabetes</a:t>
            </a:r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  <a:hlinkClick r:id="rId3"/>
              </a:rPr>
              <a:t>https://colab.research.google.com/drive/1UOqZXoV02zqSVqdLZerOmjqC3Rp8V_2c</a:t>
            </a:r>
            <a:endParaRPr lang="en-US"/>
          </a:p>
          <a:p>
            <a:endParaRPr lang="en-US" dirty="0"/>
          </a:p>
          <a:p>
            <a:endParaRPr lang="en-US" dirty="0"/>
          </a:p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6AC4D-46D9-1D4E-A23F-E35B03E89886}"/>
              </a:ext>
            </a:extLst>
          </p:cNvPr>
          <p:cNvSpPr txBox="1"/>
          <p:nvPr/>
        </p:nvSpPr>
        <p:spPr>
          <a:xfrm>
            <a:off x="4447510" y="1964544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err="1"/>
              <a:t>Regresión</a:t>
            </a:r>
            <a:endParaRPr lang="en-US" sz="2400" b="1"/>
          </a:p>
        </p:txBody>
      </p:sp>
    </p:spTree>
    <p:extLst>
      <p:ext uri="{BB962C8B-B14F-4D97-AF65-F5344CB8AC3E}">
        <p14:creationId xmlns:p14="http://schemas.microsoft.com/office/powerpoint/2010/main" val="1239129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9E4EB-F5E4-899F-332F-405B3EB08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4">
            <a:extLst>
              <a:ext uri="{FF2B5EF4-FFF2-40B4-BE49-F238E27FC236}">
                <a16:creationId xmlns:a16="http://schemas.microsoft.com/office/drawing/2014/main" id="{87CB454F-6E1B-8426-02C6-37B5419F52FD}"/>
              </a:ext>
            </a:extLst>
          </p:cNvPr>
          <p:cNvSpPr txBox="1"/>
          <p:nvPr/>
        </p:nvSpPr>
        <p:spPr>
          <a:xfrm>
            <a:off x="229892" y="139485"/>
            <a:ext cx="92137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solidFill>
                  <a:srgbClr val="FFFFFF"/>
                </a:solidFill>
                <a:latin typeface="Aptos Display"/>
              </a:rPr>
              <a:t>Aprendizaje Supervisado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657849-9AD6-7E5E-B20F-85BF72221251}"/>
              </a:ext>
            </a:extLst>
          </p:cNvPr>
          <p:cNvSpPr txBox="1"/>
          <p:nvPr/>
        </p:nvSpPr>
        <p:spPr>
          <a:xfrm>
            <a:off x="4453306" y="934404"/>
            <a:ext cx="328294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/>
              <a:t>Vamos al </a:t>
            </a:r>
            <a:r>
              <a:rPr lang="en-US" sz="2800" b="1" dirty="0" err="1"/>
              <a:t>código</a:t>
            </a:r>
            <a:endParaRPr lang="en-US" dirty="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5C69F5-F6E8-4F35-25B9-852F4A963A86}"/>
              </a:ext>
            </a:extLst>
          </p:cNvPr>
          <p:cNvSpPr txBox="1"/>
          <p:nvPr/>
        </p:nvSpPr>
        <p:spPr>
          <a:xfrm>
            <a:off x="550334" y="1979083"/>
            <a:ext cx="11345332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dirty="0"/>
              <a:t>Iris: </a:t>
            </a:r>
            <a:r>
              <a:rPr lang="en-US" sz="2400" b="1" err="1"/>
              <a:t>clasificación</a:t>
            </a:r>
            <a:r>
              <a:rPr lang="en-US" sz="2400" b="1" dirty="0"/>
              <a:t> con </a:t>
            </a:r>
            <a:r>
              <a:rPr lang="en-US" sz="2400" b="1" err="1"/>
              <a:t>Knn</a:t>
            </a:r>
            <a:r>
              <a:rPr lang="en-US" sz="2400" b="1" dirty="0"/>
              <a:t> (K Nearest Neighbors o K </a:t>
            </a:r>
            <a:r>
              <a:rPr lang="en-US" sz="2400" b="1" err="1"/>
              <a:t>vecinos</a:t>
            </a:r>
            <a:r>
              <a:rPr lang="en-US" sz="2400" b="1" dirty="0"/>
              <a:t> </a:t>
            </a:r>
            <a:r>
              <a:rPr lang="en-US" sz="2400" b="1" err="1"/>
              <a:t>más</a:t>
            </a:r>
            <a:r>
              <a:rPr lang="en-US" sz="2400" b="1" dirty="0"/>
              <a:t> </a:t>
            </a:r>
            <a:r>
              <a:rPr lang="en-US" sz="2400" b="1" err="1"/>
              <a:t>cercanos</a:t>
            </a:r>
            <a:r>
              <a:rPr lang="en-US" sz="2400" b="1" dirty="0"/>
              <a:t>)</a:t>
            </a:r>
            <a:endParaRPr lang="en-US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  <a:hlinkClick r:id="rId2"/>
              </a:rPr>
              <a:t>https://colab.research.google.com/drive/1upTQY5WEQwxlfuwBWNMBclKQ0Z-3q0HU</a:t>
            </a:r>
            <a:endParaRPr lang="en-US"/>
          </a:p>
          <a:p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01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331</Words>
  <Application>Microsoft Office PowerPoint</Application>
  <PresentationFormat>Panorámica</PresentationFormat>
  <Paragraphs>59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LINA MARCELA NIETO ALBA</dc:creator>
  <cp:lastModifiedBy>JULIAN EDUARDO HOYOS OROZCO</cp:lastModifiedBy>
  <cp:revision>107</cp:revision>
  <dcterms:created xsi:type="dcterms:W3CDTF">2024-05-07T15:06:23Z</dcterms:created>
  <dcterms:modified xsi:type="dcterms:W3CDTF">2026-06-20T13:14:09Z</dcterms:modified>
</cp:coreProperties>
</file>