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71" r:id="rId4"/>
    <p:sldId id="272" r:id="rId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615FD5-3C57-1BAD-8C62-7633B531FC08}" v="86" dt="2026-02-05T22:17:39.0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ABA8A-E1D6-8CF5-4EB8-ABC9A4AAA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C35C38-A943-3D17-0E8A-AEA8D5894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3FEF9-3730-016D-9CDE-3B1B6E193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FEEA2-2345-6EB2-BCE8-A1B818E87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D0EA5-9047-2BBC-B0D6-50A93267D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2823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4DDAD-4B9A-3ACC-563D-3C1631C36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1317E-A275-EB9C-BB7C-00FA79754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D0F10-D002-7E04-82A2-50D8E20A6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82353-4F01-1FD0-B4A7-09B150A91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E4038-1BBC-367C-A8E8-D8CC65662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2014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770FD-4026-6E72-1D41-6EFB01B03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3CADB-F992-A9C2-D7BB-A1E61939D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9CFC6-2EAB-BADC-175E-06FDE668E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8583F-18A4-2FBF-47EB-846F783B8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F02BF-9DEF-F8E6-50C2-2BB84E189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23642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A9EC1-C52E-37AE-54FE-02C1046C8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A8148-5BB6-28C8-5D95-C62BAB7324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A9FB9-DB1F-A4BD-DD43-9D4632829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95F19-236F-77B1-8F6A-1F49E2F9E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90E32-036C-010C-53B3-8F808C24D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21C1AC-E0AD-FEC5-B73C-7E3096A68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7818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AA49-3836-B9B0-5A83-DBAD55478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D6270B-8F5D-B778-A0A8-DE255CCB5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0B8625-B67B-1C49-DB51-283224357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8BF7BE-8B07-F480-6FB1-C0377B861F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046F55-A237-1A8D-9BD9-2267FB26A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D6DA49-6ACD-AC40-ADD7-3B1E0D271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4965F3-8D95-9871-4485-EAE28050F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C1580-32B4-42A0-51B6-1D68128E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99657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CA983-83B7-3944-D04E-52A95EF0C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EB081A-5123-25FF-9F69-5C4E95023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A47B4B-5D28-166D-A374-84556A58D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D71D76-47B3-311A-EE8A-9259F4ED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60474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79E274-1368-F3DD-1507-43DB44125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3BD5B2-1814-55AD-CB11-F108A3117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3FC48-3DB3-7045-07A2-27A31271A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50783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4DD91-9253-E181-7E12-C4A7AE32A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7BEBC-EF06-3BDA-0030-EC53CEFE0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058DF-73E2-3986-019C-050390D67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7FEDC-715B-59D2-9039-78D10E88E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0371A-4502-3350-D34E-E61E7E86A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CCF89-3CFC-8E9D-37B0-246D1BB07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6931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701F4-9DCC-00EE-35F4-83E797CEB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4A782E-F114-3F04-3674-2AD88FE121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01783-55EE-4F23-5519-1CF7F5C8F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8FE1FD-C55C-C36E-EB75-CF0C96AA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DC4F85-E388-EE6A-1B35-7E6E94E75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7E053E-DDCD-9FDC-C558-F07F86DB7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69627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50787-5B44-1E1E-C98E-17A43385C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9BE95D-8B60-9DC1-5701-BF5437A66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87189-1220-7EF5-7467-74E03D5ED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163B6-94DD-1E0D-6C9E-69E2399E1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2C061-8EC4-0C82-35F6-FB9C4BA3B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56409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861572-E9BE-9B75-33EF-D4B71EA0AF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05A8AB-F7E6-408B-EFB2-A16DB332D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94DF7-F334-D689-3F9A-C6C035603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45E46-8723-51E6-A678-AC81583BB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A62E8-7C27-3FAE-A4BF-119605893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2014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708DFF-3046-6ABB-BDE2-37A69F1AE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5D301-E944-EF85-1B1F-56F83B3E5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7C0A0-D3C7-157B-2681-77207473FC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6194F7-949B-4C16-A53F-8E9583A4A0C5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2C750-38DF-F531-0238-A869F7338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F002E-F8BD-2A7C-5F20-DC97119BD5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08759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v6HPhQYVkilGCaBcm_b-ol7Pd6l3fpw0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1D7C4B3-0511-DDD1-1467-17D1C831C9BE}"/>
              </a:ext>
            </a:extLst>
          </p:cNvPr>
          <p:cNvSpPr>
            <a:spLocks noGrp="1"/>
          </p:cNvSpPr>
          <p:nvPr/>
        </p:nvSpPr>
        <p:spPr>
          <a:xfrm>
            <a:off x="3954849" y="3214771"/>
            <a:ext cx="7468459" cy="16641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>
                <a:solidFill>
                  <a:schemeClr val="bg1"/>
                </a:solidFill>
                <a:ea typeface="Calibri Light"/>
                <a:cs typeface="Calibri Light"/>
              </a:rPr>
              <a:t>Aprendizaje No Supervisado</a:t>
            </a:r>
          </a:p>
        </p:txBody>
      </p:sp>
    </p:spTree>
    <p:extLst>
      <p:ext uri="{BB962C8B-B14F-4D97-AF65-F5344CB8AC3E}">
        <p14:creationId xmlns:p14="http://schemas.microsoft.com/office/powerpoint/2010/main" val="2695536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4">
            <a:extLst>
              <a:ext uri="{FF2B5EF4-FFF2-40B4-BE49-F238E27FC236}">
                <a16:creationId xmlns:a16="http://schemas.microsoft.com/office/drawing/2014/main" id="{82B50A21-ECD3-D737-F9A4-3FEAEBC12D35}"/>
              </a:ext>
            </a:extLst>
          </p:cNvPr>
          <p:cNvSpPr txBox="1"/>
          <p:nvPr/>
        </p:nvSpPr>
        <p:spPr>
          <a:xfrm>
            <a:off x="229892" y="139485"/>
            <a:ext cx="921374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b="1">
                <a:solidFill>
                  <a:srgbClr val="FFFFFF"/>
                </a:solidFill>
                <a:latin typeface="Aptos Display"/>
              </a:rPr>
              <a:t>Aprendizaje No Supervisado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2AD151-43AB-0DEE-2F33-4299014E25D1}"/>
              </a:ext>
            </a:extLst>
          </p:cNvPr>
          <p:cNvSpPr txBox="1"/>
          <p:nvPr/>
        </p:nvSpPr>
        <p:spPr>
          <a:xfrm>
            <a:off x="3384388" y="1188404"/>
            <a:ext cx="51879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err="1"/>
              <a:t>Aprendizaje</a:t>
            </a:r>
            <a:r>
              <a:rPr lang="en-US" sz="2800" b="1"/>
              <a:t> No </a:t>
            </a:r>
            <a:r>
              <a:rPr lang="en-US" sz="2800" b="1" err="1"/>
              <a:t>Supervisado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BFCF58-C5AA-4917-BE99-2464DFDD1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913" y="2078567"/>
            <a:ext cx="3802591" cy="34311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5F585C-7F0B-A62A-62A9-6BA2DD5B0A8B}"/>
              </a:ext>
            </a:extLst>
          </p:cNvPr>
          <p:cNvSpPr txBox="1"/>
          <p:nvPr/>
        </p:nvSpPr>
        <p:spPr>
          <a:xfrm>
            <a:off x="920750" y="2074333"/>
            <a:ext cx="6561666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El </a:t>
            </a:r>
            <a:r>
              <a:rPr lang="en-US" sz="2400" b="1" err="1"/>
              <a:t>aprendizaje</a:t>
            </a:r>
            <a:r>
              <a:rPr lang="en-US" sz="2400" b="1"/>
              <a:t> no </a:t>
            </a:r>
            <a:r>
              <a:rPr lang="en-US" sz="2400" b="1" err="1"/>
              <a:t>supervisado</a:t>
            </a:r>
            <a:r>
              <a:rPr lang="en-US" sz="2400"/>
              <a:t> es </a:t>
            </a:r>
            <a:r>
              <a:rPr lang="en-US" sz="2400" err="1"/>
              <a:t>una</a:t>
            </a:r>
            <a:r>
              <a:rPr lang="en-US" sz="2400"/>
              <a:t> </a:t>
            </a:r>
            <a:r>
              <a:rPr lang="en-US" sz="2400" err="1"/>
              <a:t>rama</a:t>
            </a:r>
            <a:r>
              <a:rPr lang="en-US" sz="2400"/>
              <a:t> del </a:t>
            </a:r>
            <a:r>
              <a:rPr lang="en-US" sz="2400" i="1"/>
              <a:t>Machine Learning</a:t>
            </a:r>
            <a:r>
              <a:rPr lang="en-US" sz="2400"/>
              <a:t> </a:t>
            </a:r>
            <a:r>
              <a:rPr lang="en-US" sz="2400" err="1"/>
              <a:t>en</a:t>
            </a:r>
            <a:r>
              <a:rPr lang="en-US" sz="2400"/>
              <a:t> la </a:t>
            </a:r>
            <a:r>
              <a:rPr lang="en-US" sz="2400" err="1"/>
              <a:t>que</a:t>
            </a:r>
            <a:r>
              <a:rPr lang="en-US" sz="2400"/>
              <a:t> </a:t>
            </a:r>
            <a:r>
              <a:rPr lang="en-US" sz="2400" err="1"/>
              <a:t>los</a:t>
            </a:r>
            <a:r>
              <a:rPr lang="en-US" sz="2400"/>
              <a:t> </a:t>
            </a:r>
            <a:r>
              <a:rPr lang="en-US" sz="2400" err="1"/>
              <a:t>algoritmos</a:t>
            </a:r>
            <a:r>
              <a:rPr lang="en-US" sz="2400"/>
              <a:t> </a:t>
            </a:r>
            <a:r>
              <a:rPr lang="en-US" sz="2400" b="1" err="1"/>
              <a:t>analizan</a:t>
            </a:r>
            <a:r>
              <a:rPr lang="en-US" sz="2400" b="1"/>
              <a:t> conjuntos de </a:t>
            </a:r>
            <a:r>
              <a:rPr lang="en-US" sz="2400" b="1" err="1"/>
              <a:t>datos</a:t>
            </a:r>
            <a:r>
              <a:rPr lang="en-US" sz="2400" b="1"/>
              <a:t> </a:t>
            </a:r>
            <a:r>
              <a:rPr lang="en-US" sz="2400" b="1" err="1"/>
              <a:t>que</a:t>
            </a:r>
            <a:r>
              <a:rPr lang="en-US" sz="2400" b="1"/>
              <a:t> no </a:t>
            </a:r>
            <a:r>
              <a:rPr lang="en-US" sz="2400" b="1" err="1"/>
              <a:t>poseen</a:t>
            </a:r>
            <a:r>
              <a:rPr lang="en-US" sz="2400" b="1"/>
              <a:t> </a:t>
            </a:r>
            <a:r>
              <a:rPr lang="en-US" sz="2400" b="1" err="1"/>
              <a:t>etiquetas</a:t>
            </a:r>
            <a:r>
              <a:rPr lang="en-US" sz="2400" b="1"/>
              <a:t> o </a:t>
            </a:r>
            <a:r>
              <a:rPr lang="en-US" sz="2400" b="1" err="1"/>
              <a:t>valores</a:t>
            </a:r>
            <a:r>
              <a:rPr lang="en-US" sz="2400" b="1"/>
              <a:t> </a:t>
            </a:r>
            <a:r>
              <a:rPr lang="en-US" sz="2400" b="1" err="1"/>
              <a:t>objetivo</a:t>
            </a:r>
            <a:r>
              <a:rPr lang="en-US" sz="2400" b="1"/>
              <a:t> </a:t>
            </a:r>
            <a:r>
              <a:rPr lang="en-US" sz="2400" b="1" err="1"/>
              <a:t>previamente</a:t>
            </a:r>
            <a:r>
              <a:rPr lang="en-US" sz="2400" b="1"/>
              <a:t> </a:t>
            </a:r>
            <a:r>
              <a:rPr lang="en-US" sz="2400" b="1" err="1"/>
              <a:t>definidos</a:t>
            </a:r>
            <a:r>
              <a:rPr lang="en-US" sz="2400"/>
              <a:t>, con </a:t>
            </a:r>
            <a:r>
              <a:rPr lang="en-US" sz="2400" err="1"/>
              <a:t>el</a:t>
            </a:r>
            <a:r>
              <a:rPr lang="en-US" sz="2400"/>
              <a:t> fin de </a:t>
            </a:r>
            <a:r>
              <a:rPr lang="en-US" sz="2400" b="1" err="1"/>
              <a:t>descubrir</a:t>
            </a:r>
            <a:r>
              <a:rPr lang="en-US" sz="2400" b="1"/>
              <a:t> </a:t>
            </a:r>
            <a:r>
              <a:rPr lang="en-US" sz="2400" b="1" err="1"/>
              <a:t>patrones</a:t>
            </a:r>
            <a:r>
              <a:rPr lang="en-US" sz="2400" b="1"/>
              <a:t>, </a:t>
            </a:r>
            <a:r>
              <a:rPr lang="en-US" sz="2400" b="1" err="1"/>
              <a:t>estructuras</a:t>
            </a:r>
            <a:r>
              <a:rPr lang="en-US" sz="2400" b="1"/>
              <a:t> </a:t>
            </a:r>
            <a:r>
              <a:rPr lang="en-US" sz="2400" b="1" err="1"/>
              <a:t>internas</a:t>
            </a:r>
            <a:r>
              <a:rPr lang="en-US" sz="2400" b="1"/>
              <a:t> o </a:t>
            </a:r>
            <a:r>
              <a:rPr lang="en-US" sz="2400" b="1" err="1"/>
              <a:t>relaciones</a:t>
            </a:r>
            <a:r>
              <a:rPr lang="en-US" sz="2400" b="1"/>
              <a:t> </a:t>
            </a:r>
            <a:r>
              <a:rPr lang="en-US" sz="2400" b="1" err="1"/>
              <a:t>ocultas</a:t>
            </a:r>
            <a:r>
              <a:rPr lang="en-US" sz="2400"/>
              <a:t> entre las </a:t>
            </a:r>
            <a:r>
              <a:rPr lang="en-US" sz="2400" err="1"/>
              <a:t>observaciones</a:t>
            </a:r>
            <a:r>
              <a:rPr lang="en-US" sz="2400"/>
              <a:t>.</a:t>
            </a: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FFAD6-4425-CC2E-B3DC-FC6137D59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4">
            <a:extLst>
              <a:ext uri="{FF2B5EF4-FFF2-40B4-BE49-F238E27FC236}">
                <a16:creationId xmlns:a16="http://schemas.microsoft.com/office/drawing/2014/main" id="{12F42718-8AB9-1F25-9980-A1F18A2CA841}"/>
              </a:ext>
            </a:extLst>
          </p:cNvPr>
          <p:cNvSpPr txBox="1"/>
          <p:nvPr/>
        </p:nvSpPr>
        <p:spPr>
          <a:xfrm>
            <a:off x="229892" y="139485"/>
            <a:ext cx="921374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b="1">
                <a:solidFill>
                  <a:srgbClr val="FFFFFF"/>
                </a:solidFill>
                <a:latin typeface="Aptos Display"/>
              </a:rPr>
              <a:t>Aprendizaje No Supervisado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489AE4-54A7-07C1-D109-DBF5ADED5EBB}"/>
              </a:ext>
            </a:extLst>
          </p:cNvPr>
          <p:cNvSpPr txBox="1"/>
          <p:nvPr/>
        </p:nvSpPr>
        <p:spPr>
          <a:xfrm>
            <a:off x="3384388" y="1188404"/>
            <a:ext cx="51879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err="1"/>
              <a:t>Aprendizaje</a:t>
            </a:r>
            <a:r>
              <a:rPr lang="en-US" sz="2800" b="1"/>
              <a:t> No </a:t>
            </a:r>
            <a:r>
              <a:rPr lang="en-US" sz="2800" b="1" err="1"/>
              <a:t>Supervisado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FFCFFA-435E-BB75-7144-E16094BE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913" y="2078567"/>
            <a:ext cx="3802591" cy="34311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C7DAD4-16D7-9785-045B-CC199E436BFC}"/>
              </a:ext>
            </a:extLst>
          </p:cNvPr>
          <p:cNvSpPr txBox="1"/>
          <p:nvPr/>
        </p:nvSpPr>
        <p:spPr>
          <a:xfrm>
            <a:off x="1587500" y="2391833"/>
            <a:ext cx="60960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En este enfoque, el modelo </a:t>
            </a:r>
            <a:r>
              <a:rPr lang="en-US" b="1"/>
              <a:t>no recibe una “respuesta correcta”</a:t>
            </a:r>
            <a:r>
              <a:rPr lang="en-US"/>
              <a:t> durante el entrenamiento. En lugar de ello, identifica regularidades en los datos, como:</a:t>
            </a:r>
          </a:p>
          <a:p>
            <a:pPr marL="228600" indent="-228600">
              <a:buFont typeface=""/>
              <a:buChar char="•"/>
            </a:pPr>
            <a:r>
              <a:rPr lang="en-US" b="1"/>
              <a:t>Agrupaciones de elementos similares (clustering)</a:t>
            </a:r>
          </a:p>
          <a:p>
            <a:pPr marL="228600" indent="-228600">
              <a:buFont typeface=""/>
              <a:buChar char="•"/>
            </a:pPr>
            <a:r>
              <a:rPr lang="en-US" b="1"/>
              <a:t>Estructuras jerárquicas</a:t>
            </a:r>
          </a:p>
          <a:p>
            <a:pPr marL="228600" indent="-228600">
              <a:buFont typeface=""/>
              <a:buChar char="•"/>
            </a:pPr>
            <a:r>
              <a:rPr lang="en-US" b="1"/>
              <a:t>Distribuciones subyacentes</a:t>
            </a:r>
          </a:p>
          <a:p>
            <a:pPr marL="228600" indent="-228600">
              <a:buFont typeface=""/>
              <a:buChar char="•"/>
            </a:pPr>
            <a:r>
              <a:rPr lang="en-US" b="1"/>
              <a:t>Datos atípicos u outliers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170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C5456-AAE8-3571-A930-4F8D0A945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4">
            <a:extLst>
              <a:ext uri="{FF2B5EF4-FFF2-40B4-BE49-F238E27FC236}">
                <a16:creationId xmlns:a16="http://schemas.microsoft.com/office/drawing/2014/main" id="{031DC52D-93B1-1905-E6E2-DA826B16F9AB}"/>
              </a:ext>
            </a:extLst>
          </p:cNvPr>
          <p:cNvSpPr txBox="1"/>
          <p:nvPr/>
        </p:nvSpPr>
        <p:spPr>
          <a:xfrm>
            <a:off x="229892" y="139485"/>
            <a:ext cx="921374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b="1">
                <a:solidFill>
                  <a:srgbClr val="FFFFFF"/>
                </a:solidFill>
                <a:latin typeface="Aptos Display"/>
              </a:rPr>
              <a:t>Aprendizaje No Supervisado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13E063-C993-6F46-C333-A4495AA97E07}"/>
              </a:ext>
            </a:extLst>
          </p:cNvPr>
          <p:cNvSpPr txBox="1"/>
          <p:nvPr/>
        </p:nvSpPr>
        <p:spPr>
          <a:xfrm>
            <a:off x="3384388" y="1188404"/>
            <a:ext cx="51879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err="1"/>
              <a:t>Aprendizaje</a:t>
            </a:r>
            <a:r>
              <a:rPr lang="en-US" sz="2800" b="1"/>
              <a:t> No </a:t>
            </a:r>
            <a:r>
              <a:rPr lang="en-US" sz="2800" b="1" err="1"/>
              <a:t>Supervisado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740C4-FD6F-57D4-2CEE-1A47A43D5CE9}"/>
              </a:ext>
            </a:extLst>
          </p:cNvPr>
          <p:cNvSpPr txBox="1"/>
          <p:nvPr/>
        </p:nvSpPr>
        <p:spPr>
          <a:xfrm>
            <a:off x="1481667" y="2487083"/>
            <a:ext cx="1008591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Veamos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código</a:t>
            </a:r>
            <a:r>
              <a:rPr lang="en-US" dirty="0"/>
              <a:t>:</a:t>
            </a:r>
          </a:p>
          <a:p>
            <a:r>
              <a:rPr lang="en-US" dirty="0">
                <a:ea typeface="+mn-lt"/>
                <a:cs typeface="+mn-lt"/>
                <a:hlinkClick r:id="rId2"/>
              </a:rPr>
              <a:t>https://colab.research.google.com/drive/1v6HPhQYVkilGCaBcm_b-ol7Pd6l3fpw0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707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</Words>
  <Application>Microsoft Office PowerPoint</Application>
  <PresentationFormat>Panorámica</PresentationFormat>
  <Paragraphs>16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LINA MARCELA NIETO ALBA</dc:creator>
  <cp:lastModifiedBy>JULIAN EDUARDO HOYOS OROZCO</cp:lastModifiedBy>
  <cp:revision>3</cp:revision>
  <dcterms:created xsi:type="dcterms:W3CDTF">2024-05-07T15:06:23Z</dcterms:created>
  <dcterms:modified xsi:type="dcterms:W3CDTF">2026-06-20T12:32:34Z</dcterms:modified>
</cp:coreProperties>
</file>