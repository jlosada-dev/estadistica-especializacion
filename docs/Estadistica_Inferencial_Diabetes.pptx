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527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0F766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4B8A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868680" cy="868680"/>
          </a:xfrm>
          <a:prstGeom prst="ellipse">
            <a:avLst/>
          </a:prstGeom>
          <a:solidFill>
            <a:srgbClr val="14B8A6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5" name="Image 0" descr="assets/ic_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1612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057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INFERENCIAL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24688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Distribución, Pruebas de Hipótesis,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de Student y ANOVA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 sobre un estudio clínico de diabetes con 442 pacientes</a:t>
            </a:r>
          </a:p>
          <a:p>
            <a:pPr marL="0" indent="0">
              <a:buNone/>
            </a:pPr>
            <a:endParaRPr lang="en-US" sz="1800" i="1" dirty="0">
              <a:solidFill>
                <a:srgbClr val="CFE9E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dirty="0">
                <a:highlight>
                  <a:srgbClr val="C0C0C0"/>
                </a:highlight>
              </a:rPr>
              <a:t>https://colab.research.google.com/drive/1Wj2jgD1C8Dgy0TAtoO4sYVznA6lzEvSb?usp=sharing</a:t>
            </a:r>
          </a:p>
        </p:txBody>
      </p:sp>
      <p:sp>
        <p:nvSpPr>
          <p:cNvPr id="9" name="Shape 6"/>
          <p:cNvSpPr/>
          <p:nvPr/>
        </p:nvSpPr>
        <p:spPr>
          <a:xfrm>
            <a:off x="822960" y="50292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143C3B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5138928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
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Hoyos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03320" y="502920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43C3B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513892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442 pacientes · 11 variables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conjunto de datos: estudio de Diabetes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62763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2677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pacientes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1508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26080" y="162763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017520" y="22677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medidos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03520" y="1508760"/>
            <a:ext cx="2194560" cy="1234440"/>
          </a:xfrm>
          <a:prstGeom prst="roundRect">
            <a:avLst>
              <a:gd name="adj" fmla="val 5926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03520" y="162763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5394960" y="22677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respuesta (Y)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49808" y="3264408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7" name="Image 1" descr="assets/ic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36499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31729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Demográficas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371600" y="349300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(edad) · SEX (sexo)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02336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49808" y="4224528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2" name="Image 2" descr="assets/ic_we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32511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41330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371600" y="44531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(índice masa corporal) · BP (presión arterial)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983480"/>
            <a:ext cx="69494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9808" y="5184648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3" descr="assets/ic_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528523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50932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(sangre)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371600" y="541324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S1–S6: colesterol, LDL, HDL, triglicéridos, glucosa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726680" y="1508760"/>
            <a:ext cx="3886200" cy="4343400"/>
          </a:xfrm>
          <a:prstGeom prst="roundRect">
            <a:avLst>
              <a:gd name="adj" fmla="val 1882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1" name="Image 4" descr="assets/ic_bulls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178308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59536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análisis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8001000" y="2423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estadística </a:t>
            </a: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descriptiva e inferencial</a:t>
            </a:r>
            <a:r>
              <a:rPr lang="en-US" sz="14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entender qué factores aceleran la progresión de la diabetes (Y).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8001000" y="3749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8092440" y="406908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correlación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T de Student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Varianza (ANOVA)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distribución?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distribución describe cómo se reparten los valores de una variable: qué tan frecuentes son, dónde se concentran y cómo se dispersan. Se resume con tres familias de medidas.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9" name="Image 1" descr="assets/ic_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65176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central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concentran los datos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82296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67588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>
            <a:off x="932688" y="3685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x̄ = Σxᵢ / 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960" y="454456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932688" y="45537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central (50%)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2960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22960" y="541324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932688" y="542239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más frecuente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343400" y="22402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17720" y="251460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3" name="Image 2" descr="assets/ic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26517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0352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530352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tan separados están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6177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4617720" y="367588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28" name="Text 23"/>
          <p:cNvSpPr/>
          <p:nvPr/>
        </p:nvSpPr>
        <p:spPr>
          <a:xfrm>
            <a:off x="4727448" y="3685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s² = Σ(xᵢ−x̄)² / (n−1)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461772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4617720" y="454456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4727448" y="45537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√s²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138160" y="224028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412480" y="2514600"/>
            <a:ext cx="548640" cy="54864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34" name="Image 3" descr="assets/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651760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9828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909828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silueta de la curva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84124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8412480" y="367588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8522208" y="36850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sesgo izq./der. (skew)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841248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Curtosis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8412480" y="4544568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42" name="Text 36"/>
          <p:cNvSpPr/>
          <p:nvPr/>
        </p:nvSpPr>
        <p:spPr>
          <a:xfrm>
            <a:off x="8522208" y="45537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picos y colas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TUS DATOS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 la progresión de la diabetes (Y)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612648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7" name="Image 1" descr="assets/hist_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88531"/>
            <a:ext cx="5852160" cy="370389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03720" y="1463040"/>
            <a:ext cx="4709160" cy="2788920"/>
          </a:xfrm>
          <a:prstGeom prst="roundRect">
            <a:avLst>
              <a:gd name="adj" fmla="val 2623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0" y="16002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de 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13232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13232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152.13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372600" y="2011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372600" y="22128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140.50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132320" y="2578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0" y="2779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9372600" y="2578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372600" y="277977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5 943.33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132320" y="31455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estándar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13232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77.09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9372600" y="31455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372600" y="33467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+0.44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132320" y="371246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Curtosis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132320" y="3913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−0.89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903720" y="438912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132320" y="4526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132320" y="4846320"/>
            <a:ext cx="4251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+0.44: </a:t>
            </a:r>
            <a:r>
              <a:rPr lang="en-US" sz="13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hacia la derecha → media (152) &gt; mediana (140).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Curtosis −0.89: </a:t>
            </a:r>
            <a:r>
              <a:rPr lang="en-US" sz="13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aplanada (platicúrtica), datos muy dispersos.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TUS DATOS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correlaciones entre variables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7" name="Image 1" descr="assets/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554480"/>
            <a:ext cx="5394960" cy="4572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720840" y="1463040"/>
            <a:ext cx="4892040" cy="4754880"/>
          </a:xfrm>
          <a:prstGeom prst="roundRect">
            <a:avLst>
              <a:gd name="adj" fmla="val 1538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99516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nos dice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995160" y="2240280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9516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↔ 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995160" y="26060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+0.59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8595360" y="22860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es el factor que MÁS acelera la enfermedad.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995160" y="3218688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995160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↔ 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995160" y="35844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−0.39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8595360" y="326440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inversa: más HDL, menor progresión.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995160" y="4197096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95160" y="42885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↔ S2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995160" y="456285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+0.89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8595360" y="424281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 y LDL casi redundantes (miden lo mismo).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995160" y="5175504"/>
            <a:ext cx="14173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995160" y="52669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Y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995160" y="554126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+0.19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8595360" y="522122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edad influye poco: pesa más el IMC que los años.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prueba de hipótesis?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procedimiento para decidir, con base en una muestra, si una afirmación sobre la población es creíble. Se enfrentan dos hipótesis y se usa la evidencia para rechazar (o no) una de ellas.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·  Hipótesis nula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hay efecto / no hay diferencia." Es lo que se asume verdadero hasta que la evidencia diga lo contrario.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77640" y="224028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2062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·  Hipótesis alternativa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06240" y="27432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"Sí hay efecto / sí hay diferencia." Es lo que queremos demostrar con los datos.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0" y="224028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14" name="Image 1" descr="assets/ic_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39572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9244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decisión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635240" y="2880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significancia α = 0.05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 &lt; 0.05  →  se RECHAZA H₀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 ≥ 0.05  →  NO se rechaza H₀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18" name="Image 2" descr="assets/ic_question_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80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4462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p (p-value)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77240" y="49377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obtener un resultado tan extremo como el observado SI H₀ fuera cierta. Un p muy pequeño = el azar casi no explica lo visto → la diferencia es real.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126480" y="4297680"/>
            <a:ext cx="5486400" cy="1920240"/>
          </a:xfrm>
          <a:prstGeom prst="roundRect">
            <a:avLst>
              <a:gd name="adj" fmla="val 3810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355080" y="4462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errores posibles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55080" y="489204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Tipo I (α):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H₀ siendo verdadera (falsa alarma).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Tipo II (β):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rechazar H₀ siendo falsa (no detectar el efecto).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T de Student: ¿cuándo se usa?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7" name="Image 1" descr="assets/ic_f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373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7190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para comparar las MEDIAS de DOS grupos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2377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Responde: ¿la diferencia entre los promedios de dos grupos es real o es producto del azar del muestreo?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3520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 interés numérica (continua)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dos grupos a comparar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aproximadamente normales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independientes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(dos muestras independientes)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37960" y="2240280"/>
            <a:ext cx="4800600" cy="1143000"/>
          </a:xfrm>
          <a:prstGeom prst="roundRect">
            <a:avLst>
              <a:gd name="adj" fmla="val 5600"/>
            </a:avLst>
          </a:prstGeom>
          <a:solidFill>
            <a:srgbClr val="143C3B"/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0" y="2423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</a:t>
            </a: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(x̄₁ − x̄₂)  /  </a:t>
            </a: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√( s₁²/n₁ + s₂²/n₂ )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653796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Donde: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37960" y="38404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x̄₁, x̄₂  </a:t>
            </a:r>
            <a:r>
              <a:rPr lang="en-US" sz="14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medias de cada grupo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s₁², s₂²  </a:t>
            </a:r>
            <a:r>
              <a:rPr lang="en-US" sz="14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varianzas de cada grupo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n₁, n₂  </a:t>
            </a:r>
            <a:r>
              <a:rPr lang="en-US" sz="14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tamaño de cada grupo</a:t>
            </a:r>
            <a:endParaRPr lang="en-US" sz="1400" dirty="0"/>
          </a:p>
          <a:p>
            <a:pPr marL="0" indent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 </a:t>
            </a:r>
            <a:r>
              <a:rPr lang="en-US" sz="14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n₁ + n₂ − 2  (grados de libertad)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TUS DATOS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de Student: ¿la progresión difiere según el sexo?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EAF6F4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5087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diferencia en la media de Y entre sexos.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existe diferencia entre las medias.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557784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9" name="Image 1" descr="assets/box_s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510" y="2542032"/>
            <a:ext cx="2350099" cy="1783080"/>
          </a:xfrm>
          <a:prstGeom prst="rect">
            <a:avLst/>
          </a:prstGeom>
        </p:spPr>
      </p:pic>
      <p:pic>
        <p:nvPicPr>
          <p:cNvPr id="10" name="Image 2" descr="assets/td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927" y="4370832"/>
            <a:ext cx="2817266" cy="17830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55080" y="1417320"/>
            <a:ext cx="5257800" cy="2468880"/>
          </a:xfrm>
          <a:prstGeom prst="roundRect">
            <a:avLst>
              <a:gd name="adj" fmla="val 2963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662940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62940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T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629400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−0.9041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23544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crítico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235440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±1.9654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662940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2940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0.3664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235440" y="2880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235440" y="30815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6355080" y="402336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22" name="Image 3" descr="assets/ic_tim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206240"/>
            <a:ext cx="411480" cy="4114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583680" y="4206240"/>
            <a:ext cx="411480" cy="41148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4" name="Image 4" descr="assets/ic_tim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279392"/>
            <a:ext cx="265176" cy="2651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41879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rechaza H₀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29400" y="470916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 = 0.3664 ≥ 0.05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 cae en la zona de aceptación: </a:t>
            </a: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evidencia de que la progresión de la diabetes difiera entre hombres y mujeres.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 (Análisis de Varianza): ¿cuándo se usa?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7" name="Image 1" descr="assets/ic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7190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las MEDIAS de TRES o más grupos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77240" y="2377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usáramos varias pruebas T por pares, el error se acumularía. ANOVA evalúa todos los grupos a la vez con una sola prueba.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clave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35661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la variación ENTRE grupos contra la variación DENTRO de cada grupo.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variación entre grupos es mucho mayor → las medias son distintas → F grande → p pequeño.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77240" y="5440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medias son iguales    </a:t>
            </a: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difiere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F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537960" y="2194560"/>
            <a:ext cx="4800600" cy="1188720"/>
          </a:xfrm>
          <a:prstGeom prst="roundRect">
            <a:avLst>
              <a:gd name="adj" fmla="val 5385"/>
            </a:avLst>
          </a:prstGeom>
          <a:solidFill>
            <a:srgbClr val="143C3B"/>
          </a:solidFill>
          <a:ln/>
        </p:spPr>
      </p:sp>
      <p:sp>
        <p:nvSpPr>
          <p:cNvPr id="16" name="Text 12"/>
          <p:cNvSpPr/>
          <p:nvPr/>
        </p:nvSpPr>
        <p:spPr>
          <a:xfrm>
            <a:off x="6675120" y="23774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</a:t>
            </a: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Varianza ENTRE grupos</a:t>
            </a: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 </a:t>
            </a: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Varianza DENTRO de grupos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537960" y="3520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términos de sumas de cuadrados: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37960" y="38221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(SCE / gl₁) / (SCD / gl₂)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537960" y="42976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  </a:t>
            </a:r>
            <a:r>
              <a:rPr lang="en-US" sz="13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suma de cuadrados ENTRE grupos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 </a:t>
            </a:r>
            <a:r>
              <a:rPr lang="en-US" sz="13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suma de cuadrados DENTRO (error)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gl₁  </a:t>
            </a:r>
            <a:r>
              <a:rPr lang="en-US" sz="13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 − 1  (k = nº de grupos)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gl₂  </a:t>
            </a:r>
            <a:r>
              <a:rPr lang="en-US" sz="135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 − k  (N = total de datos)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· APLICACIÓN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Presión arterial (BP) vs. progresión de la diabetes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 BP en tres grupos por terciles (Baja, Media, Alta) y se comparan las medias de 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8" name="Image 1" descr="assets/violin_b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06379"/>
            <a:ext cx="5486400" cy="383396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37960" y="18288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76656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ANOVA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F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766560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50.01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23544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235440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76656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 de Y →  Baja 119.7 · Media 142.4 · Alta 200.1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37960" y="388620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66560" y="4069080"/>
            <a:ext cx="411480" cy="41148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8" name="Image 2" descr="assets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414223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40507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H₀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766560" y="46177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presión arterial SÍ tiene un efecto significativo sobre la progresión. A mayor presión, mayor avance promedio de la enfermedad.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· APLICACIÓN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masa corporal (BMI) vs. progresión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procedimiento: BMI en terciles (Bajo, Medio, Alto). Es el factor con mayor correlación con 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8" name="Image 1" descr="assets/violin_b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06379"/>
            <a:ext cx="5486400" cy="383396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37960" y="1828800"/>
            <a:ext cx="5074920" cy="1874520"/>
          </a:xfrm>
          <a:prstGeom prst="roundRect">
            <a:avLst>
              <a:gd name="adj" fmla="val 3902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766560" y="19933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ANOVA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7665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F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766560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95.40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923544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D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235440" y="2578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0.001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676656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 de Y →  Bajo 105.8 · Medio 145.1 · Alto 207.7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537960" y="3886200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66560" y="4069080"/>
            <a:ext cx="411480" cy="41148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18" name="Image 2" descr="assets/ic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414223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4050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H₀ (F aún mayor)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766560" y="461772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 más alto del estudio.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sobrepeso y la obesidad son aceleradores determinantes de la severidad de la diabetes: del grupo Bajo al Alto, la media de Y casi se duplica.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de Student vs. ANOVA: ¿cuál usar?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55448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EAF6F4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8" name="Image 1" descr="assets/ic_sig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911096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783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T de Student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14400" y="24688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2 grupos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Estadístico: t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¿difieren estas dos medias?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estudio: Y por SEXO (1 vs 2)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 = 0.37 → sin diferencia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155448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0F2D2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2" descr="assets/ic_lay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91109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78308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6537960" y="24688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3 o más grupos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Estadístico: F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¿alguna media difiere del resto?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estudio: Y por BP y por BMI (3 grupos)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D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 &lt; 0.001 → sí hay diferencias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revelan las pruebas inferenciales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3C3B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25856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assets/ic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377440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13055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BMI es el factor dominante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760720" y="213055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corporal es el predictor más fuerte (r = 0.59; F = 95.4). Del grupo de IMC bajo al alto, la progresión casi se duplica.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090672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3C3B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51560" y="33375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3" name="Image 1" descr="assets/ic_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4564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209544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presión arterial también pesa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5760720" y="3209544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confirma un efecto significativo de la BP sobre Y (F = 50.0, p &lt; 0.001): a mayor presión, mayor avance.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169664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3C3B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51560" y="441655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8" name="Image 2" descr="assets/ic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5354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28853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sexo no marca diferencia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760720" y="4288536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T no halló diferencia significativa entre sexos (p = 0.37): el impacto metabólico domina sobre lo biológico basal.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" y="5248656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43C3B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51560" y="5495544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3" name="Image 3" descr="assets/ic_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561441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91640" y="53675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prueba, su contexto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5760720" y="536752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de Student para 2 grupos; ANOVA para 3 o más. La regla común: p &lt; 0.05 para rechazar H₀.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F766E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pic>
        <p:nvPicPr>
          <p:cNvPr id="3" name="Image 0" descr="assets/ic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34440" y="7132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1783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Boschetti, A., &amp; Massaron, L. (2018). Python Data Science Essentials: A practitioner's guide covering essential data science principles, tools, and techniques (pp. 281–331). Packt Publishing Ltd.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06324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880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Fuentes, A. (2018). Become a Python data analyst: Perform exploratory data analysis and gain insight into scientific computing using Python (pp. 69–118). Packt Publishing, Limited.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71600" y="39776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Mehta, H. (2015). Mastering Python Scientific Computing (pp. 163–198). Packt Publishing, Limited.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BFA"/>
          </a:solidFill>
          <a:ln/>
          <a:effectLst>
            <a:outerShdw blurRad="88900" dist="38100" dir="5400000" algn="bl" rotWithShape="0">
              <a:srgbClr val="0F2D2E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525780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71600" y="5074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Yim, A., Chung, C., &amp; Yu, A. (2018). Matplotlib for Python developers: Effective techniques for data visualization with Python (2.ª ed., pp. 21–54). Packt Publishing, Limited.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1604</Words>
  <Application>Microsoft Office PowerPoint</Application>
  <PresentationFormat>Panorámica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Estadística Inferencial - Diabetes</dc:title>
  <dc:subject>PptxGenJS Presentation</dc:subject>
  <dc:creator>Julián Hoyos</dc:creator>
  <cp:lastModifiedBy>JULIAN EDUARDO HOYOS OROZCO</cp:lastModifiedBy>
  <cp:revision>3</cp:revision>
  <dcterms:created xsi:type="dcterms:W3CDTF">2026-06-19T15:49:25Z</dcterms:created>
  <dcterms:modified xsi:type="dcterms:W3CDTF">2026-06-19T16:23:08Z</dcterms:modified>
</cp:coreProperties>
</file>